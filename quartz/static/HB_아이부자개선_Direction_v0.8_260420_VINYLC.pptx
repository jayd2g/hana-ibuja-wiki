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93553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VINYLC × 하나은행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7426" y="504825"/>
            <a:ext cx="42877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37</a:t>
            </a:r>
            <a:endParaRPr lang="en-US" sz="675" dirty="0"/>
          </a:p>
        </p:txBody>
      </p:sp>
      <p:sp>
        <p:nvSpPr>
          <p:cNvPr id="5" name="Shape 3"/>
          <p:cNvSpPr/>
          <p:nvPr/>
        </p:nvSpPr>
        <p:spPr>
          <a:xfrm>
            <a:off x="762000" y="1597819"/>
            <a:ext cx="1937296" cy="257175"/>
          </a:xfrm>
          <a:prstGeom prst="roundRect">
            <a:avLst>
              <a:gd name="adj" fmla="val 50000"/>
            </a:avLst>
          </a:prstGeom>
          <a:ln w="9525">
            <a:solidFill>
              <a:srgbClr val="2DA6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825" y="1674019"/>
            <a:ext cx="176584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675" b="1" spc="13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STRATEGIC RENEWAL · 2026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762000" y="2055019"/>
            <a:ext cx="10988040" cy="2369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75" b="1" spc="-399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 </a:t>
            </a:r>
            <a:pPr algn="l" indent="0" marL="0">
              <a:lnSpc>
                <a:spcPct val="92000"/>
              </a:lnSpc>
              <a:buNone/>
            </a:pPr>
            <a:r>
              <a:rPr lang="en-US" sz="9975" b="1" spc="-399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리뉴얼 </a:t>
            </a:r>
            <a:pPr algn="l" indent="0" marL="0">
              <a:lnSpc>
                <a:spcPct val="92000"/>
              </a:lnSpc>
              <a:buNone/>
            </a:pPr>
            <a:r>
              <a:rPr lang="en-US" sz="9975" b="1" spc="-399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전략</a:t>
            </a:r>
            <a:endParaRPr lang="en-US" sz="9975" dirty="0"/>
          </a:p>
        </p:txBody>
      </p:sp>
      <p:sp>
        <p:nvSpPr>
          <p:cNvPr id="8" name="Text 6"/>
          <p:cNvSpPr/>
          <p:nvPr/>
        </p:nvSpPr>
        <p:spPr>
          <a:xfrm>
            <a:off x="762000" y="4566940"/>
            <a:ext cx="850592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spc="-13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 아이부자 앱 UX 컨설팅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762000" y="5886450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076950"/>
            <a:ext cx="304945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84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PREPARED BY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62000" y="6210300"/>
            <a:ext cx="30494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0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VINYLC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32213" y="6076950"/>
            <a:ext cx="317193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84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132213" y="6210300"/>
            <a:ext cx="31719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0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2026. 04. 20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621339" y="6076950"/>
            <a:ext cx="286749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84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VERSION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621339" y="6210300"/>
            <a:ext cx="28674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0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Ver. 4.0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662493" y="6248400"/>
            <a:ext cx="84370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3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 아이부자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3807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INDEX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CONTENTS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 정의 → 컨셉 선언 → 서비스 구현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1859161"/>
            <a:ext cx="10668000" cy="9525"/>
          </a:xfrm>
          <a:prstGeom prst="rect">
            <a:avLst/>
          </a:prstGeom>
          <a:solidFill>
            <a:srgbClr val="14161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935361"/>
            <a:ext cx="1098804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· 문제 · 역할 · 컨셉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762000" y="249733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13538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285875" y="2173486"/>
            <a:ext cx="4454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Define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85875" y="234493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문제 정의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6157913" y="249733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57913" y="213538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681788" y="2173486"/>
            <a:ext cx="321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681788" y="234493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아이부자만의 신규 역할 설정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762000" y="293548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57353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285875" y="2611636"/>
            <a:ext cx="5618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Concept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285875" y="278308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컨셉의 선언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762000" y="2964061"/>
            <a:ext cx="10668000" cy="9525"/>
          </a:xfrm>
          <a:prstGeom prst="rect">
            <a:avLst/>
          </a:prstGeom>
          <a:solidFill>
            <a:srgbClr val="14161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040261"/>
            <a:ext cx="1098804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서비스 구현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62000" y="360223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324028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285875" y="3278386"/>
            <a:ext cx="711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Experience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285875" y="344983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경험을 정의한다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6157913" y="360223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157913" y="324028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6681788" y="3278386"/>
            <a:ext cx="5470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Problem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681788" y="344983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 형태로는 풀 수 없는 두 문제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62000" y="404038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367843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285875" y="3716536"/>
            <a:ext cx="7411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Mechanism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85875" y="388798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문제를 어떻게 푸는가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6157913" y="404038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57913" y="367843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6681788" y="3716536"/>
            <a:ext cx="4314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Vision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681788" y="388798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성공의 모습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762000" y="4478536"/>
            <a:ext cx="5272088" cy="9525"/>
          </a:xfrm>
          <a:prstGeom prst="rect">
            <a:avLst/>
          </a:prstGeom>
          <a:solidFill>
            <a:srgbClr val="14161A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62000" y="4116586"/>
            <a:ext cx="4857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" b="1" spc="-43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285875" y="4154686"/>
            <a:ext cx="3147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-15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Risk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285875" y="4326136"/>
            <a:ext cx="48906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-3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예상 문제와 보완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640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· 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184279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Define.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문제 정의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255389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서비스가 달성해야 할 핵심 지표와 그를 막는 구조적 요인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9371" y="6296025"/>
            <a:ext cx="5868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/ 01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서비스가 달성해야 할 핵심 지표는 무엇인가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 서비스는 네 개의 핵심 지표를 달성해야 합니다. 이 지표들이 사업의 실제 의미를 만듭니다.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87687"/>
            <a:ext cx="2581275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897237"/>
            <a:ext cx="2276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3202037"/>
            <a:ext cx="2276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신규 계좌 개설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468737"/>
            <a:ext cx="227647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청소년 고객군의 진입 자체를 만드는 1차 지표.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3457575" y="2687687"/>
            <a:ext cx="2581275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075" y="2897237"/>
            <a:ext cx="2276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075" y="3202037"/>
            <a:ext cx="2276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예·적금 상품 가입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48075" y="3468737"/>
            <a:ext cx="22764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개설 계좌에 실제 자금이 들어오고 금융 관계가 형성되는 지표.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153150" y="2687687"/>
            <a:ext cx="2581275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3650" y="2897237"/>
            <a:ext cx="2276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3650" y="3202037"/>
            <a:ext cx="2276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계좌 유지 · 반복 이용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3650" y="3468737"/>
            <a:ext cx="22764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일회성이 아닌 지속 접점이 형성되는지를 나타내는 지표.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8848725" y="2687687"/>
            <a:ext cx="2581275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9225" y="2897237"/>
            <a:ext cx="22764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-1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39225" y="3202037"/>
            <a:ext cx="22764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 연속 이용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39225" y="3468737"/>
            <a:ext cx="22764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금융 헤리티지가 성인기까지 이어지는지를 보는 장기 지표.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762000" y="4306937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430693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26" name="Text 24"/>
          <p:cNvSpPr/>
          <p:nvPr/>
        </p:nvSpPr>
        <p:spPr>
          <a:xfrm>
            <a:off x="981075" y="4449812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지표들을 달성하지 못하게 하는 요인이 곧 '핵심 문제'입니다.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6311354"/>
            <a:ext cx="213493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문제 = 핵심 지표를 막고 있는 구조적 요인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인터뷰 · 자료 분석이 가리키는 지점 — 12세 이탈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이해관계자 인터뷰와 기존 자료 분석에서 일관되게 드러나는 현상은 다음과 같습니다.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725787"/>
            <a:ext cx="10668000" cy="18043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4758779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2500" y="4968329"/>
            <a:ext cx="3185121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초기 고만족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952500" y="5223123"/>
            <a:ext cx="318512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7~11세 사용자는 높은 만족도를 보입니다.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4359176" y="4758779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9676" y="4968329"/>
            <a:ext cx="31852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12세 급격한 이탈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549676" y="5223123"/>
            <a:ext cx="318527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이탈 후 복귀율이 낮게 유지됩니다.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7956500" y="4758779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47000" y="4968329"/>
            <a:ext cx="3185121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성인기 단절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147000" y="5223123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이탈한 사용자는 성인이 된 후에도 타사(토스·카카오뱅크)에 남고, 하나은행으로 돌아오지 않습니다.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62000" y="6311354"/>
            <a:ext cx="215086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현상을 '핵심 문제'로 단순 등치시켜도 되는가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598" y="409575"/>
            <a:ext cx="4316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왜 이탈이 벌어지는가 — 표면적 원인 세 가지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원인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유치하게 인식되는 브랜드 ·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46772"/>
            <a:ext cx="318512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초등학생 때는 괜찮았던 요소가 중학교 진입 후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어린이 앱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처럼 느껴집니다.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2089547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2299097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원인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480072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부모의 소비 간섭 · 감시 이미지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746772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측에서는 앱이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감시 도구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인식되어 자율성이 침해된다는 느낌을 받습니다.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원인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강한 또래문화의 대안 등장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토스 · 카카오뱅크가 또래 안에서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기준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되는 순간 아이부자를 쓸 이유가 사라집니다.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342885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표면적 원인은 명확하다 — 그러나 이 원인 대응이 지표 개선으로 이어지는가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표면 원인 해결로는 지표 개선이 불가능합니다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대응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UI 개선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세련된 UI는 대부분의 금융 앱이 이미 적용한 요소로, 차별점이 되지 못합니다. 토스 · 카뱅 수준의 UI 투자를 지속하기도 현실적으로 어렵습니다.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2089547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2299097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대응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480072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감시 · 간섭 제거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746772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'부모 간섭 없는 청소년 금융 앱'은 이미 시장에 여럿 존재합니다. 이 지점에서의 차별화도 불가능합니다.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대응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또래문화 형성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특정 기능이나 서비스로 또래문화는 만들 수 없습니다. 친구가 쓰면 쓰는 것이 또래문화이고, 토스가 이미 그 자리에 있습니다.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1560612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같은 전장에서의 승률은 매우 낮다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편의 · 접근성 두 축에서 아이부자의 자리는 없습니다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232720"/>
            <a:ext cx="6217890" cy="38687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84690" y="3093095"/>
            <a:ext cx="4145310" cy="652463"/>
          </a:xfrm>
          <a:prstGeom prst="rect">
            <a:avLst/>
          </a:prstGeom>
          <a:solidFill>
            <a:srgbClr val="F7F8F6"/>
          </a:solidFill>
          <a:ln/>
        </p:spPr>
      </p:sp>
      <p:sp>
        <p:nvSpPr>
          <p:cNvPr id="9" name="Shape 6"/>
          <p:cNvSpPr/>
          <p:nvPr/>
        </p:nvSpPr>
        <p:spPr>
          <a:xfrm>
            <a:off x="7284690" y="3093095"/>
            <a:ext cx="28575" cy="6524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0" name="Text 7"/>
          <p:cNvSpPr/>
          <p:nvPr/>
        </p:nvSpPr>
        <p:spPr>
          <a:xfrm>
            <a:off x="7465665" y="3235970"/>
            <a:ext cx="39262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토스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7465665" y="3445520"/>
            <a:ext cx="39262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편의 축 우측 상단 — 또래문화 기반 학습 기회 + UI 편의 · 다양한 기능.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7284690" y="3859857"/>
            <a:ext cx="4145310" cy="652463"/>
          </a:xfrm>
          <a:prstGeom prst="rect">
            <a:avLst/>
          </a:prstGeom>
          <a:solidFill>
            <a:srgbClr val="F7F8F6"/>
          </a:solidFill>
          <a:ln/>
        </p:spPr>
      </p:sp>
      <p:sp>
        <p:nvSpPr>
          <p:cNvPr id="13" name="Shape 10"/>
          <p:cNvSpPr/>
          <p:nvPr/>
        </p:nvSpPr>
        <p:spPr>
          <a:xfrm>
            <a:off x="7284690" y="3859857"/>
            <a:ext cx="28575" cy="6524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4" name="Text 11"/>
          <p:cNvSpPr/>
          <p:nvPr/>
        </p:nvSpPr>
        <p:spPr>
          <a:xfrm>
            <a:off x="7465665" y="4002732"/>
            <a:ext cx="39262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카카오뱅크 미니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465665" y="4212282"/>
            <a:ext cx="39262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접근성 축 상단 — 메신저 기반 접근성 강점.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7284690" y="4626620"/>
            <a:ext cx="4145310" cy="652463"/>
          </a:xfrm>
          <a:prstGeom prst="rect">
            <a:avLst/>
          </a:prstGeom>
          <a:solidFill>
            <a:srgbClr val="E5195F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284690" y="4626620"/>
            <a:ext cx="28575" cy="652463"/>
          </a:xfrm>
          <a:prstGeom prst="rect">
            <a:avLst/>
          </a:prstGeom>
          <a:solidFill>
            <a:srgbClr val="E5195F"/>
          </a:solidFill>
          <a:ln/>
        </p:spPr>
      </p:sp>
      <p:sp>
        <p:nvSpPr>
          <p:cNvPr id="18" name="Text 15"/>
          <p:cNvSpPr/>
          <p:nvPr/>
        </p:nvSpPr>
        <p:spPr>
          <a:xfrm>
            <a:off x="7465665" y="4769495"/>
            <a:ext cx="39262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7465665" y="4979045"/>
            <a:ext cx="39262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양 축 모두 하위 — 시중은행의 제도적 한계 + 별도 앱이라는 낮은 접근성.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62000" y="6311354"/>
            <a:ext cx="455586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편의에서도 접근성에서도, 아이부자를 써야 할 이유가 구조적으로 존재하지 않는다 — 즉, 역할이 없다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205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01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747" y="409575"/>
            <a:ext cx="4314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01. DEFINE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문제의 재정의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3408908"/>
            <a:ext cx="2924175" cy="28575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618458"/>
            <a:ext cx="30119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2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CORE PROBLEM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762000" y="3828008"/>
            <a:ext cx="30119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25" b="1" spc="-20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 부재</a:t>
            </a:r>
            <a:endParaRPr lang="en-US" sz="5025" dirty="0"/>
          </a:p>
        </p:txBody>
      </p:sp>
      <p:sp>
        <p:nvSpPr>
          <p:cNvPr id="10" name="Shape 8"/>
          <p:cNvSpPr/>
          <p:nvPr/>
        </p:nvSpPr>
        <p:spPr>
          <a:xfrm>
            <a:off x="762000" y="4590008"/>
            <a:ext cx="381000" cy="38100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1" name="Text 9"/>
          <p:cNvSpPr/>
          <p:nvPr/>
        </p:nvSpPr>
        <p:spPr>
          <a:xfrm>
            <a:off x="4038600" y="3456087"/>
            <a:ext cx="76131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아이부자를 쓰게 할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아이부자만의 역할이 없다 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이것이 핵심 문제입니다. 이탈은 그 결과로 나타나는 현상일 뿐, 본질이 아닙니다. UI · 감시 · 또래문화 같은 표면적 원인 해결로는 이 근본 구조가 바뀌지 않습니다.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38600" y="4080867"/>
            <a:ext cx="73914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38600" y="408086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7675" y="4223742"/>
            <a:ext cx="721309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"UI를 개선하고 기능이 추가되면 친구들과 토스 쓰는 대신 아이부자를 쓸 것인가?" — 이 질문에 긍정할 수 없습니다.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311354"/>
            <a:ext cx="192077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문제는 이탈이 아니라 — 존재 이유의 부재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76980" y="6372225"/>
            <a:ext cx="42922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7615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· PART 02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129941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아이부자만의 신규 역할 설정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269795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경쟁사가 들어오지 않은 영역에서 아이부자의 자리를 만든다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06869" y="6296025"/>
            <a:ext cx="59933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/ 02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2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02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02. ROLE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경쟁사는 무엇에 집중하고 있는가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고객의 금융 여정은 크게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 전 · 소비 중 · 소비 후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나뉩니다. 경쟁 서비스들이 집중하고 있는 영역은 분명합니다.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697212"/>
            <a:ext cx="10668000" cy="2190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5078462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5078462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1" name="Text 8"/>
          <p:cNvSpPr/>
          <p:nvPr/>
        </p:nvSpPr>
        <p:spPr>
          <a:xfrm>
            <a:off x="981075" y="5221337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편하게 쓰고, 친구들과 나누고, 이력을 확인하는 경험에 모두 몰려 있습니다.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6311354"/>
            <a:ext cx="269259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모두가 소비 쪽에 있다 — 그렇다면 비어 있는 곳은 어디인가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478" y="6372225"/>
            <a:ext cx="44172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08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2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02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02. ROLE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방치된 영역 — 소비 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3408908"/>
            <a:ext cx="2924175" cy="28575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618458"/>
            <a:ext cx="30119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2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OPEN TERRITORY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762000" y="3828008"/>
            <a:ext cx="30119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25" b="1" spc="-20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 전</a:t>
            </a:r>
            <a:endParaRPr lang="en-US" sz="5025" dirty="0"/>
          </a:p>
        </p:txBody>
      </p:sp>
      <p:sp>
        <p:nvSpPr>
          <p:cNvPr id="10" name="Shape 8"/>
          <p:cNvSpPr/>
          <p:nvPr/>
        </p:nvSpPr>
        <p:spPr>
          <a:xfrm>
            <a:off x="762000" y="4590008"/>
            <a:ext cx="381000" cy="38100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1" name="Text 9"/>
          <p:cNvSpPr/>
          <p:nvPr/>
        </p:nvSpPr>
        <p:spPr>
          <a:xfrm>
            <a:off x="4038600" y="3456087"/>
            <a:ext cx="761314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용돈을 받아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자산이 형성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되고, 그 자산을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관리하고 확대 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하는 영역. 이 구간은 경쟁사에 방치되어 있습니다. 여기서 새로운 축이 열립니다 — 소비 축(경쟁사)이 아닌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축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38600" y="4080867"/>
            <a:ext cx="73914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38600" y="408086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7675" y="4223742"/>
            <a:ext cx="721309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편의 · 접근성 프레임 자체를 벗어나 새로운 축으로 이동합니다.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311354"/>
            <a:ext cx="234106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경쟁사가 들어오지 않은 영역 — 그것이 역할의 자리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478" y="6372225"/>
            <a:ext cx="44172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08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2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02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02. ROLE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축에서 하나은행은 우세한가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축의 본질은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부자의 방식 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입니다. 자산을 만들고 · 불리고 · 다루는 습관은 부유층 가정이 자녀에게 오래 전해온 것입니다. 그렇다면 그 방식을 서비스로 담으려면 한 가지 필수 조건이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885777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88577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0" name="Text 8"/>
          <p:cNvSpPr/>
          <p:nvPr/>
        </p:nvSpPr>
        <p:spPr>
          <a:xfrm>
            <a:off x="981075" y="3028652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부자의 방식을 말하려면 — 부자가 있어야 합니다.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3528715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하나은행은 시중은행 중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고액 자산가 기반이 가장 두터운 은행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입니다. 시중은행 중 오직 하나은행만이 부자가 되는 자산관리 습관의 형성을 리드할 수 있습니다.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6311354"/>
            <a:ext cx="302416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핀테크는 일반 대중 중심 — 부자의 방식을 말할 근거가 내부에 없다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478" y="6372225"/>
            <a:ext cx="44172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08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2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02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02. ROLE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부자가 되는 자산관리 습관의 세 요소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ELEMENT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경험 사이클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46772"/>
            <a:ext cx="3185121" cy="52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 생성 → 투자 → 돈 굴어남 체험 → 변화 · 실패에서 학습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이 사이클을 자녀가 몸으로 겪어야 자산관리 습관이 생깁니다. 부자 가정이 실제로 자녀에게 물려주는 과정입니다.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2089547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2299097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ELEMENT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480072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리얼 관리 경험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746772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흉내나 시뮬레이션이 아닌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실거래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관리 과정에 직접 개입하고 리드하며, 실제 자산이 증식하는 경험. 자기 돈이 걸려 있을 때만 학습이 일어납니다.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ELEMENT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가족 · 자산 네트워크 기반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즉효성은 또래 네트워크에 비해 낮습니다 — 그러나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유지력은 훨씬 높습니다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부모의 자산, 조부모의 증여 라인이 자녀의 금융 여정을 오래 지지합니다.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21336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셋을 합친 것이 아이부자가 수행할 신규 역할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478" y="6372225"/>
            <a:ext cx="44172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08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14537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· PART 03 · CONCEPT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1407914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CONCEPT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779389"/>
            <a:ext cx="10988040" cy="2369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75" b="1" spc="-449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</a:t>
            </a:r>
            <a:pPr algn="l" indent="0" marL="0">
              <a:lnSpc>
                <a:spcPct val="92000"/>
              </a:lnSpc>
              <a:buNone/>
            </a:pPr>
            <a:r>
              <a:rPr lang="en-US" sz="9975" b="1" spc="-449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Wealth </a:t>
            </a:r>
            <a:pPr algn="l" indent="0" marL="0">
              <a:lnSpc>
                <a:spcPct val="92000"/>
              </a:lnSpc>
              <a:buNone/>
            </a:pPr>
            <a:r>
              <a:rPr lang="en-US" sz="9975" b="1" spc="-449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Apprentice.</a:t>
            </a:r>
            <a:endParaRPr lang="en-US" sz="9975" dirty="0"/>
          </a:p>
        </p:txBody>
      </p:sp>
      <p:sp>
        <p:nvSpPr>
          <p:cNvPr id="7" name="Text 5"/>
          <p:cNvSpPr/>
          <p:nvPr/>
        </p:nvSpPr>
        <p:spPr>
          <a:xfrm>
            <a:off x="762000" y="4329410"/>
            <a:ext cx="109880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5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견습 자산가를 키우는 청소년 금융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4843760"/>
            <a:ext cx="10988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spc="-6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"Wealth, tailored young."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62000" y="5215235"/>
            <a:ext cx="915343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-18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자녀는 이 서비스 안에서 견습 자산가입니다. 어릴 때 시작해 재정 독립 시점에 마스터로 졸업합니다. 서비스는 그 견습을 가정마다 맞춰 재단(tailor)합니다.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6235154"/>
            <a:ext cx="114047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모든 가정에 재단된 견습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58016" y="6296025"/>
            <a:ext cx="94818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1 · CONCEPT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923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PART 04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598" y="504825"/>
            <a:ext cx="4316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302738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Experience.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필요한 경험을 정의한다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17843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컨셉을 서비스로 구현하기 위한 첫 단계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90945" y="6296025"/>
            <a:ext cx="61525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/ 04</a:t>
            </a:r>
            <a:endParaRPr lang="en-US" sz="6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827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04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04. EXPERIENCE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이제 "어떻게" 만들어줄 것인가의 영역입니다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02. Role에서 선언한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경험 사이클 4단계 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시드 생성, 투자, 돈 굴어남 체험, 학습 — 을 구체화합니다. 이 네 경험이 순서대로 쌓여야 자녀의 머리와 몸에 부자의 금융 습관이 체화됩니다.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885777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88577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0" name="Text 8"/>
          <p:cNvSpPr/>
          <p:nvPr/>
        </p:nvSpPr>
        <p:spPr>
          <a:xfrm>
            <a:off x="981075" y="3028652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우리가 다루는 것은 모두 '소비 전' 영역의 경험입니다.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6311354"/>
            <a:ext cx="188252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각 경험의 세부를 다음 슬라이드에서 정의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1055" y="6372225"/>
            <a:ext cx="4451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08</a:t>
            </a:r>
            <a:endParaRPr lang="en-US" sz="6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827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04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04. EXPERIENCE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경험 사이클 4단계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25836"/>
            <a:ext cx="10668000" cy="2952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6311354"/>
            <a:ext cx="223182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네 경험이 순환할 때 부자의 금융 습관이 체화된다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1055" y="6372225"/>
            <a:ext cx="4451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08</a:t>
            </a:r>
            <a:endParaRPr lang="en-US" sz="6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827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04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747" y="409575"/>
            <a:ext cx="4314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04. EXPERIENCE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시드머니의 두 층위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1754386"/>
            <a:ext cx="525780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963936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INTERNAL SEED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144911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내부 시드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411611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내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 · 이벤트 · 일괄 지급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으로 확보하는 운용 가능 금액. 이번 달 · 이번 분기 굴릴 돈.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952500" y="2782639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PART 06에서 다룹니다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1754386"/>
            <a:ext cx="52578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1963936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INDEPENDENCE SEED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362700" y="2144911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독립 시드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2411611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자녀가 재정 독립 시점에 들고 나가는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자본금 + 체화된 금융 습관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서비스의 진짜 성과물.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62700" y="2782639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PART 07에서 다룹니다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311354"/>
            <a:ext cx="1811685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내부 시드의 반복적 누적이 곧 독립 시드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1055" y="6372225"/>
            <a:ext cx="4451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08</a:t>
            </a:r>
            <a:endParaRPr lang="en-US" sz="6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8984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PART 05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22959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Problem.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 형태로는 풀 수 없는 두 문제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255389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경험을 만들기 전에 구조적으로 해결해야 할 두 가지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93326" y="6296025"/>
            <a:ext cx="61287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/ 05</a:t>
            </a:r>
            <a:endParaRPr lang="en-US" sz="6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574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05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05. PROBLEM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경험을 만들기 전에 구조적으로 풀어야 할 두 문제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089547"/>
            <a:ext cx="525780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909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PROBLEM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48007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시드머니 부족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4677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자녀에게 주어지는 용돈은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 자금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이지 운용 자금이 아닙니다. 이 상태로는 ①시드 생성 단계 자체가 성립하지 않습니다.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952500" y="3117800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E519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사이클이 시작되지 않는다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2089547"/>
            <a:ext cx="52578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229909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PROBLEM 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362700" y="248007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 세대 참여 저조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274677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금융 앱에 부모가 들어올 이유가 약합니다. 관리 사이클의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리드 주체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없으면 경험이 유지되지 않습니다.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62700" y="3117800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E5195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사이클이 지속되지 않는다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311354"/>
            <a:ext cx="249391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문제는 별개가 아닌 하나의 구조 — 해결도 한 쌍으로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3436" y="6372225"/>
            <a:ext cx="44276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08</a:t>
            </a:r>
            <a:endParaRPr lang="en-US" sz="6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882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PART 06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22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317623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Mechanism.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문제를 어떻게 푸는가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275114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시드머니 부족 · 부모 참여 저조 — 한 쌍의 메커니즘으로 해결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95112" y="6296025"/>
            <a:ext cx="6110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/ 06</a:t>
            </a:r>
            <a:endParaRPr lang="en-US" sz="6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10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06. MECHANISM 01 · 시드 부족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내부 시드를 만드는 세 레버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1754386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963936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LEVER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144911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용돈 매칭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411611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부모가 지급한 용돈의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일정 비율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하나은행이 매칭해 자녀 자산 계정에 예치. "쓰면 없어지는 돈"이 아니라 "운용하면 커지는 돈"이라는 프레임을 만듭니다.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1754386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1963936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LEVER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144911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성과 · 목표 매칭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411611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저축 목표 달성 · 학업 목표 달성 등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부모-자녀 합의 이벤트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 매칭. 관리 행동 자체가 추가 시드를 만드는 구조.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1754386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1963936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LEVER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144911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가족 · 조부모 라인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411611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조부모의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증여 · 명절 지원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앱 안에서 자녀 자산 계정으로 직접 흘려주는 채널. 가족 단위 자산 네트워크가 시드로 전환됩니다.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283959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소비 용돈과 분리된 '운용 계정' — 시드 생성이 실제로 일어난다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5222" y="6372225"/>
            <a:ext cx="44097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08</a:t>
            </a:r>
            <a:endParaRPr lang="en-US" sz="6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10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06. MECHANISM 02 · 부모 참여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부모에게 주어지는 역할 — 감시자가 아닌 멘토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부모가 쓸 이유가 생기려면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있어야 합니다. 기존 부모 기능이 '조회 · 제한'에 머물렀다면, 이제 부모는 자녀의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자산 멘토 역할을 수행합니다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97212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906762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 01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52500" y="3087737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 주체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354437"/>
            <a:ext cx="318512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 · 목표 이벤트를 설정하고, 자녀 운용 계정에 자금을 공급하는 주체.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359176" y="2697212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9676" y="2906762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 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49676" y="3087737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승인 · 동행 주체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49676" y="3354437"/>
            <a:ext cx="318527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자녀의 투자 · 상품 가입 결정에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코사인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단순 승인이 아니라 대화의 계기.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7956500" y="2697212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7000" y="2906762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 03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147000" y="3087737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파트너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47000" y="3354437"/>
            <a:ext cx="318512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분기별 운용 리뷰를 함께 확인하고 — 다음 분기 방향을 조정하는 파트너.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762000" y="4287887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428788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22" name="Text 20"/>
          <p:cNvSpPr/>
          <p:nvPr/>
        </p:nvSpPr>
        <p:spPr>
          <a:xfrm>
            <a:off x="981075" y="4430762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부모의 앱 체류 이유가 '감시'에서 '관계 · 자산 설계'로 전환됩니다.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6311354"/>
            <a:ext cx="278242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측에서도 앱이 감시 도구로 인식되지 않게 되는 부가 효과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5222" y="6372225"/>
            <a:ext cx="44097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08</a:t>
            </a:r>
            <a:endParaRPr lang="en-US" sz="6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410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06. MECHANISM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해결이 서로를 강화하는 구조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318147"/>
            <a:ext cx="10668000" cy="31502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5658892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5658892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0" name="Text 7"/>
          <p:cNvSpPr/>
          <p:nvPr/>
        </p:nvSpPr>
        <p:spPr>
          <a:xfrm>
            <a:off x="981075" y="5801767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두 해결은 서로를 강화하는 루프 — 한 쪽만으로는 돌지 않는다.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6311354"/>
            <a:ext cx="2664385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시드와 멘토 — 한 쌍의 메커니즘이 관리 사이클을 구동한다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65222" y="6372225"/>
            <a:ext cx="44097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08</a:t>
            </a:r>
            <a:endParaRPr lang="en-US" sz="6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8374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PART 07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598" y="504825"/>
            <a:ext cx="4316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26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177924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Vision.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성공의 모습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262498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사이클이 성공적으로 돌 때 서비스가 어떻게 보이는가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98981" y="6296025"/>
            <a:ext cx="60721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/ 07</a:t>
            </a:r>
            <a:endParaRPr lang="en-US" sz="6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96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07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27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07. VISION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여정 타임라인 — 견습에서 마스터로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318147"/>
            <a:ext cx="10668000" cy="2571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5080397"/>
            <a:ext cx="9144000" cy="500063"/>
          </a:xfrm>
          <a:prstGeom prst="rect">
            <a:avLst/>
          </a:prstGeom>
          <a:solidFill>
            <a:srgbClr val="1F8B8A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5080397"/>
            <a:ext cx="38100" cy="500063"/>
          </a:xfrm>
          <a:prstGeom prst="rect">
            <a:avLst/>
          </a:prstGeom>
          <a:solidFill>
            <a:srgbClr val="1F8B8A"/>
          </a:solidFill>
          <a:ln/>
        </p:spPr>
      </p:sp>
      <p:sp>
        <p:nvSpPr>
          <p:cNvPr id="10" name="Text 7"/>
          <p:cNvSpPr/>
          <p:nvPr/>
        </p:nvSpPr>
        <p:spPr>
          <a:xfrm>
            <a:off x="981075" y="5223272"/>
            <a:ext cx="90182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spc="-17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12세 이탈 구간이 '투자 시작' 구간으로 재정의된다 — 이탈이 일어날 이유가 사라진다.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6311354"/>
            <a:ext cx="275804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성공 = 독립 시드 + 체화된 습관 + 하나은행 연속 이용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69241" y="6372225"/>
            <a:ext cx="4369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08</a:t>
            </a:r>
            <a:endParaRPr lang="en-US" sz="6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96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07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28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07. VISION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지표와의 매핑 — 어떻게 달성되는가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318147"/>
            <a:ext cx="10668000" cy="2952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6311354"/>
            <a:ext cx="207898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각 메커니즘이 복수 지표를 동시에 밀어올린다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9241" y="6372225"/>
            <a:ext cx="4369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08</a:t>
            </a:r>
            <a:endParaRPr lang="en-US" sz="6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96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07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747" y="409575"/>
            <a:ext cx="43145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29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07. VISION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 입장에서의 수혜 구조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BENEFIT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가족 자산 통합 접점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운용 · 부모 매칭 · 조부모 증여 —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3세대 자금 흐름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하나은행 안으로 흘러들어옵니다.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2089547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2299097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BENEFIT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480072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성인기 자연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746772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견습이 끝날 때 자녀는 이미 하나은행의 고객.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별도 전환 마케팅 없이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성인 상품으로 이동합니다.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2089547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2299097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BENEFIT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480072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부유층 기반 강화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746772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고액 자산가 가정이 자녀 단위까지 하나은행에 포함되어 —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세대 간 PB 관계가 선재적으로 형성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됩니다.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214461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청소년 앱이 아니라 — 가족 자산 플랫폼의 입구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9241" y="6372225"/>
            <a:ext cx="4369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08</a:t>
            </a:r>
            <a:endParaRPr lang="en-US" sz="6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89118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· PART 08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50482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F4F1EA">
                    <a:alpha val="45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2108150"/>
            <a:ext cx="10468070" cy="1605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025" b="1" spc="-70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4025" dirty="0"/>
          </a:p>
        </p:txBody>
      </p:sp>
      <p:sp>
        <p:nvSpPr>
          <p:cNvPr id="6" name="Text 4"/>
          <p:cNvSpPr/>
          <p:nvPr/>
        </p:nvSpPr>
        <p:spPr>
          <a:xfrm>
            <a:off x="762000" y="3837384"/>
            <a:ext cx="12665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25" b="1" spc="-133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Risk.</a:t>
            </a:r>
            <a:endParaRPr lang="en-US" sz="4425" dirty="0"/>
          </a:p>
        </p:txBody>
      </p:sp>
      <p:sp>
        <p:nvSpPr>
          <p:cNvPr id="7" name="Text 5"/>
          <p:cNvSpPr/>
          <p:nvPr/>
        </p:nvSpPr>
        <p:spPr>
          <a:xfrm>
            <a:off x="762000" y="4596705"/>
            <a:ext cx="10468070" cy="2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5" spc="-16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예상 문제와 보완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762000" y="5060305"/>
            <a:ext cx="762000" cy="28575"/>
          </a:xfrm>
          <a:prstGeom prst="rect">
            <a:avLst/>
          </a:prstGeom>
          <a:solidFill>
            <a:srgbClr val="2DA6A3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163145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구조적으로 예상되는 리스크와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892284" y="6296025"/>
            <a:ext cx="61391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 2 / 08</a:t>
            </a:r>
            <a:endParaRPr lang="en-US" sz="6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708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08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31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08. RISK 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가정 간 자산 편차로 경험이 갈리는 문제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 규모가 가정마다 다릅니다. 자산가 가정의 자녀와 일반 가정의 자녀가 같은 서비스에서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같은 경험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갖지 못할 수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49587"/>
            <a:ext cx="525780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525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하나은행 베이스 매칭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시드 규모에 관계없이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소액 구간에 강한 매칭 비율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적용 — 작은 시드에서도 관리 사이클이 돌게 합니다.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2649587"/>
            <a:ext cx="52578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3627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경험의 동일성 확보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금액이 달라도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관리 프로세스는 동일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시드 생성 · 투자 · 리뷰는 누구에게나 같은 경험으로 제공됩니다.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311354"/>
            <a:ext cx="210636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금액의 차이가 경험의 차이가 되지 않도록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2395" y="6372225"/>
            <a:ext cx="44380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08</a:t>
            </a:r>
            <a:endParaRPr lang="en-US" sz="6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708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08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32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08. RISK 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 참여가 부담으로 인식될 위험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멘토 역할은 참여 동기인 동시에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피로 요인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 수 있습니다. 승인 · 리뷰 · 설정이 빈번하면 오히려 이탈합니다.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49587"/>
            <a:ext cx="525780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525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승인 → 합의 템플릿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반복적 승인을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연간/분기 합의로 사전 승인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하는 템플릿 제공. 개별 트랜잭션 승인을 최소화합니다.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2649587"/>
            <a:ext cx="52578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3627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리뷰의 자동 요약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분기 리뷰는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지표 3~4개로 자동 요약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 부모는 요약을 보고 방향만 조정하면 되도록.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311354"/>
            <a:ext cx="16447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개입 밀도는 낮게 · 개입의 질은 높게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2395" y="6372225"/>
            <a:ext cx="44380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08</a:t>
            </a:r>
            <a:endParaRPr lang="en-US" sz="6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9708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PART 08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33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08. RISK 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자율성이 훼손될 위험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270522"/>
            <a:ext cx="981075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부모 역할이 강화되면 자녀 측에서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spc="-1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감시 강화</a:t>
            </a:r>
            <a:pPr algn="l" indent="0" marL="0">
              <a:lnSpc>
                <a:spcPct val="155000"/>
              </a:lnSpc>
              <a:buNone/>
            </a:pPr>
            <a:r>
              <a:rPr lang="en-US" sz="1200" spc="-1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느껴질 수 있습니다 — 이는 원래 표면 원인 02에 해당하는 지점입니다.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49587"/>
            <a:ext cx="5257800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01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9525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자녀 자체 운용 영역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승인 없이 자녀가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자율적으로 운용 가능한 한도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명시적으로 분리. 일정 금액 이하는 자녀 단독 실행.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0" y="2649587"/>
            <a:ext cx="52578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2859137"/>
            <a:ext cx="50231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MITIGATION 02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362700" y="3040112"/>
            <a:ext cx="5023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프레이밍의 전환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2700" y="3306812"/>
            <a:ext cx="502310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앱 내 모든 문구를 '제한/승인'이 아니라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'상의 · 합의 · 동행'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언어로 통일. 관계의 성격이 UI에서 드러납니다.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311354"/>
            <a:ext cx="178430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자율성 영역과 동행 영역의 명시적 분리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2395" y="6372225"/>
            <a:ext cx="44380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08</a:t>
            </a:r>
            <a:endParaRPr lang="en-US" sz="6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5868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SUMMARY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34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SUMMARY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전략의 한 장 요약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318147"/>
            <a:ext cx="10668000" cy="3333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6311354"/>
            <a:ext cx="2141041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 부재 → 컨셉 → 두 해결 → 사이클 → 성과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20710" y="6372225"/>
            <a:ext cx="5854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SUMMARY</a:t>
            </a:r>
            <a:endParaRPr lang="en-US" sz="6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3426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NEXT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923925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NEXT STEP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143000"/>
            <a:ext cx="98107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72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— 세 단계로의 전개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62000" y="1754386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963936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01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952500" y="2144911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구조 확정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411611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매칭 비율 · 부모 합의 템플릿 · 자율 한도 등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정책 파라미터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확정. 법무 · 금융상품 검토 동시 진행.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359176" y="1754386"/>
            <a:ext cx="3473500" cy="1400175"/>
          </a:xfrm>
          <a:prstGeom prst="rect">
            <a:avLst/>
          </a:prstGeom>
          <a:solidFill>
            <a:srgbClr val="F7F8F6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676" y="1963936"/>
            <a:ext cx="318527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02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49676" y="2144911"/>
            <a:ext cx="318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UX 설계 · 프로토타입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9676" y="2411611"/>
            <a:ext cx="31852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견습 흐름 · 부모 대시보드 · 가족 네트워크 UI 설계. 핵심 3~4 플로우 hi-fi 프로토타입.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7956500" y="1754386"/>
            <a:ext cx="3473351" cy="14001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61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7000" y="1963936"/>
            <a:ext cx="3185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1F8B8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STEP 03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147000" y="2144911"/>
            <a:ext cx="31851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파일럿 · 지표 검증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000" y="2411611"/>
            <a:ext cx="3185121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제한된 사용자군에서 파일럿 운영. 지표 ①~④에 대한 </a:t>
            </a:r>
            <a:pPr algn="l" indent="0" marL="0">
              <a:lnSpc>
                <a:spcPct val="155000"/>
              </a:lnSpc>
              <a:buNone/>
            </a:pPr>
            <a:r>
              <a:rPr lang="en-US" sz="825" b="1" spc="-4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초기 리텐션 · 자산 누적 </a:t>
            </a:r>
            <a:pPr algn="l" indent="0" marL="0">
              <a:lnSpc>
                <a:spcPct val="155000"/>
              </a:lnSpc>
              <a:buNone/>
            </a:pPr>
            <a:r>
              <a:rPr lang="en-US" sz="825" spc="-4" kern="0" dirty="0">
                <a:solidFill>
                  <a:srgbClr val="14161A">
                    <a:alpha val="82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측정 → 본서비스 확장.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311354"/>
            <a:ext cx="194324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정책 → UX → 파일럿 — 순차적 위험 감소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63449" y="6372225"/>
            <a:ext cx="34275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NEXT</a:t>
            </a:r>
            <a:endParaRPr lang="en-US" sz="6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52475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4825"/>
            <a:ext cx="51970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CLOSING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4598" y="504825"/>
            <a:ext cx="43160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36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1535311"/>
            <a:ext cx="109880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CLOSING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62000" y="1906786"/>
            <a:ext cx="10988040" cy="2369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75" b="1" spc="-449" kern="0" dirty="0">
                <a:solidFill>
                  <a:srgbClr val="F4F1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Wealth, </a:t>
            </a:r>
            <a:pPr algn="l" indent="0" marL="0">
              <a:lnSpc>
                <a:spcPct val="92000"/>
              </a:lnSpc>
              <a:buNone/>
            </a:pPr>
            <a:r>
              <a:rPr lang="en-US" sz="9975" b="1" spc="-449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tailored young.</a:t>
            </a:r>
            <a:endParaRPr lang="en-US" sz="9975" dirty="0"/>
          </a:p>
        </p:txBody>
      </p:sp>
      <p:sp>
        <p:nvSpPr>
          <p:cNvPr id="7" name="Text 5"/>
          <p:cNvSpPr/>
          <p:nvPr/>
        </p:nvSpPr>
        <p:spPr>
          <a:xfrm>
            <a:off x="762000" y="4456807"/>
            <a:ext cx="109880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15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모든 가정에 재단된 견습 — 그 입구에 하나은행이 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4866382"/>
            <a:ext cx="91534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-18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아이부자의 리뉴얼은 앱의 개선이 아니라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spc="-18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역할의 전환 </a:t>
            </a:r>
            <a:pPr algn="l" indent="0" marL="0">
              <a:lnSpc>
                <a:spcPct val="155000"/>
              </a:lnSpc>
              <a:buNone/>
            </a:pPr>
            <a:r>
              <a:rPr lang="en-US" sz="1125" spc="-18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입니다. 소비 편의의 경쟁을 떠나 관리 축에 자리를 잡고 — 자녀를 견습 자산가로 키워 재정 독립 시점에 하나은행의 고객으로 졸업시킵니다. 세대를 잇는 자산 플랫폼의 시작점이 여기에 있습니다.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762000" y="6082754"/>
            <a:ext cx="10668000" cy="9525"/>
          </a:xfrm>
          <a:prstGeom prst="rect">
            <a:avLst/>
          </a:prstGeom>
          <a:solidFill>
            <a:srgbClr val="F4F1EA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6235154"/>
            <a:ext cx="1996232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F4F1EA">
                    <a:alpha val="7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견습의 시작 · 관계의 확장 · 헤리티지의 계승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81879" y="6296025"/>
            <a:ext cx="5243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2DA6A3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CLOSING</a:t>
            </a:r>
            <a:endParaRPr lang="en-US" sz="6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57225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09575"/>
            <a:ext cx="48741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THANKS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11071027" y="409575"/>
            <a:ext cx="43517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81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37 / 37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762000" y="666750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— Thank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037332"/>
            <a:ext cx="109880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1503164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함께 만드는 다음 세대의 자산 헤리티지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684139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1865114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VINYLC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046089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2227064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2026. 04. 20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408039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2000" y="2589014"/>
            <a:ext cx="109880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-18" kern="0" dirty="0">
                <a:solidFill>
                  <a:srgbClr val="14161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Ver. 4.0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6158954"/>
            <a:ext cx="10668000" cy="9525"/>
          </a:xfrm>
          <a:prstGeom prst="rect">
            <a:avLst/>
          </a:prstGeom>
          <a:solidFill>
            <a:srgbClr val="14161A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6311354"/>
            <a:ext cx="1812727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spc="-4" kern="0" dirty="0">
                <a:solidFill>
                  <a:srgbClr val="14161A">
                    <a:alpha val="60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Wealth Apprentice — Ver. 4.0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24171" y="6372225"/>
            <a:ext cx="2820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14161A">
                    <a:alpha val="34000"/>
                  </a:srgbClr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END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2026-04-21T01:30:44Z</dcterms:created>
  <dcterms:modified xsi:type="dcterms:W3CDTF">2026-04-21T01:30:44Z</dcterms:modified>
</cp:coreProperties>
</file>